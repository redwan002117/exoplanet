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8" r:id="rId1"/>
  </p:sldMasterIdLst>
  <p:notesMasterIdLst>
    <p:notesMasterId r:id="rId21"/>
  </p:notesMasterIdLst>
  <p:sldIdLst>
    <p:sldId id="256" r:id="rId2"/>
    <p:sldId id="262" r:id="rId3"/>
    <p:sldId id="257" r:id="rId4"/>
    <p:sldId id="280" r:id="rId5"/>
    <p:sldId id="278" r:id="rId6"/>
    <p:sldId id="279" r:id="rId7"/>
    <p:sldId id="281" r:id="rId8"/>
    <p:sldId id="283" r:id="rId9"/>
    <p:sldId id="296" r:id="rId10"/>
    <p:sldId id="284" r:id="rId11"/>
    <p:sldId id="286" r:id="rId12"/>
    <p:sldId id="287" r:id="rId13"/>
    <p:sldId id="288" r:id="rId14"/>
    <p:sldId id="297" r:id="rId15"/>
    <p:sldId id="293" r:id="rId16"/>
    <p:sldId id="294" r:id="rId17"/>
    <p:sldId id="273" r:id="rId18"/>
    <p:sldId id="274" r:id="rId19"/>
    <p:sldId id="275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niz Fatema" initials="KF" lastIdx="1" clrIdx="0">
    <p:extLst>
      <p:ext uri="{19B8F6BF-5375-455C-9EA6-DF929625EA0E}">
        <p15:presenceInfo xmlns:p15="http://schemas.microsoft.com/office/powerpoint/2012/main" userId="4ae4dfd290a67bb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154" autoAdjust="0"/>
    <p:restoredTop sz="94291" autoAdjust="0"/>
  </p:normalViewPr>
  <p:slideViewPr>
    <p:cSldViewPr>
      <p:cViewPr varScale="1">
        <p:scale>
          <a:sx n="85" d="100"/>
          <a:sy n="85" d="100"/>
        </p:scale>
        <p:origin x="49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A85DC-018B-4F1D-9BCC-BA10FDA96A23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7B5672-ADE6-4DA2-A2C7-8376839EE4B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C4058-ED87-4ECB-9DD9-3BC7561D35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BB3E00-573B-429D-8066-174A77F563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40D0C-01E4-49E6-809E-83FB9FAAF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4B66D-A5CE-42A1-9C05-46FA3E94CC3F}" type="datetime2">
              <a:rPr lang="en-US" smtClean="0"/>
              <a:pPr/>
              <a:t>Sunday, November 23,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B8A0D-346A-46FA-A7D9-E07DAE88C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EECA8-7BD3-415A-9012-8DD81F494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192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14170-2F91-4927-A2D1-A82A0B10F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2881B-9787-4030-83A6-9677CB98E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16575-EA73-4EE2-BE25-6DF3C7923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3516B-352B-4793-B7C4-6C06A4F4800D}" type="datetime2">
              <a:rPr lang="en-US" smtClean="0"/>
              <a:pPr/>
              <a:t>Sunday, November 23,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D4B71-4DF9-42E1-86C7-686B92725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7661F-C040-4642-AF33-7FA191BE6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620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32991-F51E-4970-8E0F-2361F7B7A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56DA4-0931-4DC4-9920-FCD4CE7E6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CE409-A778-432A-AFB4-D5C6F20DA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6EF37-A94C-4534-A2B1-CC2022CDC647}" type="datetime2">
              <a:rPr lang="en-US" smtClean="0"/>
              <a:pPr/>
              <a:t>Sunday, November 23,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FA18E-8BB6-4166-B149-698474DC5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5A679-9A54-4E5D-8A69-4DF55412A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09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3ACFD-9357-4C75-8ED6-3A726A542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C274A-F410-42AD-9DB7-CE1FB2DCC0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80D0EB-ED69-48D9-A70D-F03E661ED3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FCDCB4-487D-4982-B3CF-30D25B226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F5DE8-46B7-43C6-92B6-780BCD9A2D43}" type="datetime2">
              <a:rPr lang="en-US" smtClean="0"/>
              <a:pPr/>
              <a:t>Sunday, November 23,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68F30-938A-41CF-BDB8-36DB88DB5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8965C3-9C4C-4DC5-BF6D-F2180EAC1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25894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BC405-B7C9-4F36-8D1F-8F1F87972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08D896-536D-4802-927A-8DA5B3C5D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2A7444-05AC-48E2-90F6-29230E813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07CF77-AA74-47E8-8DC2-53C6550CC4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76AE23-4837-499D-B396-A404CBFCC2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EA4CAC-774A-4E7E-BDE1-E0088F24A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A0EDA-E9E5-48B8-905D-8AC44EBBC9FD}" type="datetime2">
              <a:rPr lang="en-US" smtClean="0"/>
              <a:pPr/>
              <a:t>Sunday, November 23,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BEA282-E513-4A80-AF5C-1B12FCA0E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E78805-8241-4460-953B-7D69659AA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459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1BF21-A6B8-4FC1-8D00-E1FEF316E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DAC438-C077-4976-BCAF-D8D3BD8DF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50185-9017-4836-A92F-BB05BFBC62F1}" type="datetime2">
              <a:rPr lang="en-US" smtClean="0"/>
              <a:pPr/>
              <a:t>Sunday, November 23,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750309-6AE7-4CB4-9AF9-DBF2A682F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20619B-81AD-4643-A4F2-477D3338C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909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250A48-08B0-4CBC-A931-082B6EC60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F54A-25BC-482D-8D56-0755565FF8F0}" type="datetime2">
              <a:rPr lang="en-US" smtClean="0"/>
              <a:pPr/>
              <a:t>Sunday, November 23,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34679D-5B15-4CC1-AB1E-9B1B6A9D5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6E67D-93A7-44B0-8A72-0D636B9C2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821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44A3C-FCE9-44FF-90D4-1B2712C05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E7C83-E3E9-44AF-B014-90409B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53C3F5-415B-41A5-9D02-43515A7CE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33B593-150B-4085-923E-5B573C620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C85E-12E0-4562-8829-CBECA72C9894}" type="datetime2">
              <a:rPr lang="en-US" smtClean="0"/>
              <a:pPr/>
              <a:t>Sunday, November 23,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AF9620-6686-4FB3-9846-A291AC330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BF268C-892B-48D4-802B-16ABDFDD9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05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75AE6-0B18-46BD-829B-304C7F018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B4E06F-9240-4D15-BFBE-F73565D1D2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EB97F-BD90-4C48-9B72-984CCFF6DA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B93D8D-A4D6-4CD1-A9DB-0E90DB2CB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F5DE8-46B7-43C6-92B6-780BCD9A2D43}" type="datetime2">
              <a:rPr lang="en-US" smtClean="0"/>
              <a:pPr/>
              <a:t>Sunday, November 23,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94E22A-4333-4A26-8B88-9278E7C9B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B569AE-8993-41A5-82FD-C3A05CBF1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58075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AF286-DE85-49FD-ADD9-F1D560663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6330E4-1EC9-4E78-84C5-E51AD664DD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28E88-672C-417A-AB39-705632921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28D4A-0135-440A-97ED-D0FA805DB767}" type="datetime2">
              <a:rPr lang="en-US" smtClean="0"/>
              <a:pPr/>
              <a:t>Sunday, November 23,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2EB1D-B2C0-4D90-9E09-A2BF43A10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BDB55-FF93-41C5-B529-3E463E00A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844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F7FAC3-75EE-4CB4-8B2C-C7EB5D6AC9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36713B-D1DE-47E9-9303-8E5300C1E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697C9-9204-4975-9827-37DC9421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E3F86-EE01-4EA4-B63B-715E83139625}" type="datetime2">
              <a:rPr lang="en-US" smtClean="0"/>
              <a:pPr/>
              <a:t>Sunday, November 23,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AC1EC-32FE-4B12-B54B-0988671C5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D9D1B-46B5-4354-B7DF-BA1ACC757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191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2DD3A3-D846-464D-9C8C-FA9B9B88F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8660BD-3172-41C4-87BA-1F84EBF30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143B1-825B-4478-8CD8-27CF82FC5C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3F5DE8-46B7-43C6-92B6-780BCD9A2D43}" type="datetime2">
              <a:rPr lang="en-US" smtClean="0"/>
              <a:pPr/>
              <a:t>Sunday, November 23,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F0439-F77F-4BB4-9C70-A46B76382B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5FFBE-D477-44B3-9991-AB4660FBE1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079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xoplanetarchive.ipac.caltech.edu/cgi-bin/TblView/nph-tblView?app=ExoTbls&amp;config=TOI" TargetMode="External"/><Relationship Id="rId4" Type="http://schemas.openxmlformats.org/officeDocument/2006/relationships/hyperlink" Target="https://exoplanetarchive.ipac.caltech.edu/cgi-bin/TblView/nph-tblView?app=ExoTbls&amp;config=cumulative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aw.io/" TargetMode="External"/><Relationship Id="rId2" Type="http://schemas.openxmlformats.org/officeDocument/2006/relationships/hyperlink" Target="https://arxiv.org/abs/2507.19520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838200" y="2667000"/>
            <a:ext cx="7620000" cy="1828800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sz="27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Prepared for</a:t>
            </a:r>
            <a:r>
              <a:rPr lang="en-US" sz="27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 </a:t>
            </a:r>
            <a:br>
              <a:rPr lang="en-US"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Thesis Proposal Defense Committee</a:t>
            </a:r>
            <a:b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sz="11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Department of  Computer Science and Engineering</a:t>
            </a:r>
            <a:br>
              <a:rPr lang="en-US" dirty="0"/>
            </a:br>
            <a:endParaRPr lang="en-US" dirty="0"/>
          </a:p>
        </p:txBody>
      </p:sp>
      <p:sp>
        <p:nvSpPr>
          <p:cNvPr id="10" name="WordArt 5"/>
          <p:cNvSpPr>
            <a:spLocks noChangeArrowheads="1" noChangeShapeType="1" noTextEdit="1"/>
          </p:cNvSpPr>
          <p:nvPr/>
        </p:nvSpPr>
        <p:spPr bwMode="auto">
          <a:xfrm>
            <a:off x="733343" y="321276"/>
            <a:ext cx="7683137" cy="26778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1200" b="1" kern="10" spc="240" dirty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008000"/>
                </a:solidFill>
                <a:latin typeface="Arial Narrow"/>
              </a:rPr>
              <a:t>IUBAT–INTERNATIONAL </a:t>
            </a:r>
            <a:r>
              <a:rPr lang="en-US" sz="1200" b="1" kern="10" spc="240" dirty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008000"/>
                </a:solidFill>
                <a:effectLst/>
                <a:latin typeface="Arial Narrow"/>
              </a:rPr>
              <a:t>UNIVERSITY OF BUSINESS AGRICULTURE AND TECHNOLOGY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4200" y="713601"/>
            <a:ext cx="29633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i="1" dirty="0">
                <a:solidFill>
                  <a:srgbClr val="00800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Founded 1991 by Md. Alimullah Miyan</a:t>
            </a:r>
            <a:endParaRPr lang="en-US" sz="11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15240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Rectangle 13"/>
          <p:cNvSpPr/>
          <p:nvPr/>
        </p:nvSpPr>
        <p:spPr>
          <a:xfrm>
            <a:off x="685800" y="1143000"/>
            <a:ext cx="78486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Exoplanet Transit Detection Using Traditional ML and 1D Convolutional Deep Networks</a:t>
            </a:r>
            <a:endParaRPr lang="en-US" sz="2800" dirty="0"/>
          </a:p>
        </p:txBody>
      </p:sp>
      <p:pic>
        <p:nvPicPr>
          <p:cNvPr id="15" name="Picture 14" descr="Logo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733800"/>
            <a:ext cx="457200" cy="470535"/>
          </a:xfrm>
          <a:prstGeom prst="rect">
            <a:avLst/>
          </a:prstGeom>
          <a:noFill/>
        </p:spPr>
      </p:pic>
      <p:sp>
        <p:nvSpPr>
          <p:cNvPr id="16" name="Rectangle 15"/>
          <p:cNvSpPr/>
          <p:nvPr/>
        </p:nvSpPr>
        <p:spPr>
          <a:xfrm>
            <a:off x="2819400" y="2419290"/>
            <a:ext cx="383951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u="sng" dirty="0">
                <a:latin typeface="Times New Roman" pitchFamily="18" charset="0"/>
                <a:cs typeface="Times New Roman" pitchFamily="18" charset="0"/>
              </a:rPr>
              <a:t>Course Code: CSC 488 (Thesis) </a:t>
            </a:r>
            <a:endParaRPr lang="en-US" sz="2000" dirty="0"/>
          </a:p>
        </p:txBody>
      </p:sp>
      <p:sp>
        <p:nvSpPr>
          <p:cNvPr id="17" name="Rectangle 16"/>
          <p:cNvSpPr/>
          <p:nvPr/>
        </p:nvSpPr>
        <p:spPr>
          <a:xfrm>
            <a:off x="152400" y="4800600"/>
            <a:ext cx="3810000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Supervised by:</a:t>
            </a:r>
          </a:p>
          <a:p>
            <a:pPr algn="ctr">
              <a:spcAft>
                <a:spcPts val="6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Supervisor Name: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Kazi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Johir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Raihan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Suny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>
              <a:spcAft>
                <a:spcPts val="6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Designation: Lecturer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19600" y="4800600"/>
            <a:ext cx="47244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Prepared by: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Student1_Name: Kaniz Fatema   ID:22203135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Student2_Name: Fahim Ferdous  ID:21303015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19400" y="6324600"/>
            <a:ext cx="3124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         25 November, 2025</a:t>
            </a:r>
            <a:endParaRPr lang="en-US" sz="2000" dirty="0"/>
          </a:p>
        </p:txBody>
      </p:sp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07921" y="228600"/>
            <a:ext cx="483679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7924800" cy="487375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Methodology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Plan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71856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Introduction 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304800" y="838200"/>
            <a:ext cx="8534400" cy="5638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algn="just">
              <a:spcBef>
                <a:spcPts val="0"/>
              </a:spcBef>
              <a:tabLst>
                <a:tab pos="685800" algn="l"/>
              </a:tabLs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Exoplanets are discovered by observing tiny drops in star brightness (transits).Missions like Kepler and TESS have produced millions of light curves, making manual inspection impossible. Traditional ML gives feature-based explanations, while deep learning can analyze the raw light curve shape more effectively.</a:t>
            </a:r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marL="342900" lvl="0" indent="-342900" algn="just"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models struggle with noise, false positives, and lack proper explanations.</a:t>
            </a:r>
          </a:p>
          <a:p>
            <a:pPr marL="342900" lvl="0" indent="-342900" algn="just"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can detect subtle patterns in raw light curves, Grad-CAM can visually highlight transit regions.</a:t>
            </a:r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dirty="0"/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dirty="0"/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dirty="0"/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dirty="0"/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dirty="0"/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0" y="6629400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dirty="0"/>
              <a:t>Exoplanet Transit Detection Using Traditional ML and 1D Convolutional Deep Networks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71856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Literature Review</a:t>
            </a: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-24063" y="6629400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dirty="0"/>
              <a:t>Exoplanet Transit Detection Using Traditional ML and 1D Convolutional Deep Networks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1E211D7-0A22-42FC-A49F-73654C5911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21299"/>
              </p:ext>
            </p:extLst>
          </p:nvPr>
        </p:nvGraphicFramePr>
        <p:xfrm>
          <a:off x="533400" y="914401"/>
          <a:ext cx="8077200" cy="508013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409700">
                  <a:extLst>
                    <a:ext uri="{9D8B030D-6E8A-4147-A177-3AD203B41FA5}">
                      <a16:colId xmlns:a16="http://schemas.microsoft.com/office/drawing/2014/main" val="422557223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422733045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83621785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897542789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581632166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690653676"/>
                    </a:ext>
                  </a:extLst>
                </a:gridCol>
              </a:tblGrid>
              <a:tr h="252708">
                <a:tc>
                  <a:txBody>
                    <a:bodyPr/>
                    <a:lstStyle/>
                    <a:p>
                      <a:pPr algn="l"/>
                      <a:r>
                        <a:rPr lang="en-US" sz="13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endParaRPr lang="en-US" sz="13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621" marR="69621" marT="34811" marB="3481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US" sz="13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621" marR="69621" marT="34811" marB="3481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13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621" marR="69621" marT="34811" marB="3481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US" sz="13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621" marR="69621" marT="34811" marB="3481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Summary</a:t>
                      </a:r>
                      <a:endParaRPr lang="en-US" sz="13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621" marR="69621" marT="34811" marB="3481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US" sz="13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621" marR="69621" marT="34811" marB="34811" anchor="ctr"/>
                </a:tc>
                <a:extLst>
                  <a:ext uri="{0D108BD9-81ED-4DB2-BD59-A6C34878D82A}">
                    <a16:rowId xmlns:a16="http://schemas.microsoft.com/office/drawing/2014/main" val="351413082"/>
                  </a:ext>
                </a:extLst>
              </a:tr>
              <a:tr h="1007964">
                <a:tc>
                  <a:txBody>
                    <a:bodyPr/>
                    <a:lstStyle/>
                    <a:p>
                      <a:pPr algn="l"/>
                      <a:r>
                        <a:rPr lang="en-US" sz="13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for High-Contrast Spectroscopy</a:t>
                      </a:r>
                      <a:endParaRPr lang="en-US" sz="13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621" marR="69621" marT="34811" marB="3481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Garvin et al. (2024)</a:t>
                      </a:r>
                    </a:p>
                  </a:txBody>
                  <a:tcPr marL="69621" marR="69621" marT="34811" marB="3481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Perceptron, </a:t>
                      </a:r>
                      <a:r>
                        <a:rPr lang="en-US" sz="135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1D CNN</a:t>
                      </a:r>
                      <a:r>
                        <a:rPr lang="en-US" sz="13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MLCCS</a:t>
                      </a:r>
                    </a:p>
                  </a:txBody>
                  <a:tcPr marL="69621" marR="69621" marT="34811" marB="3481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Synthetic planets + SINFONI noise</a:t>
                      </a:r>
                    </a:p>
                  </a:txBody>
                  <a:tcPr marL="69621" marR="69621" marT="34811" marB="3481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Enhances CCS with ML , CNN detects 77× more planets than S/N, Works on spectral data only</a:t>
                      </a:r>
                    </a:p>
                  </a:txBody>
                  <a:tcPr marL="69621" marR="69621" marT="34811" marB="3481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drops at extreme noise, Template-dependent, High training time, Limited interpretability</a:t>
                      </a:r>
                    </a:p>
                  </a:txBody>
                  <a:tcPr marL="69621" marR="69621" marT="34811" marB="34811" anchor="ctr"/>
                </a:tc>
                <a:extLst>
                  <a:ext uri="{0D108BD9-81ED-4DB2-BD59-A6C34878D82A}">
                    <a16:rowId xmlns:a16="http://schemas.microsoft.com/office/drawing/2014/main" val="1139456926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 algn="l"/>
                      <a:r>
                        <a:rPr lang="en-US" sz="13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Models on Synthetic Kepler Light Curves</a:t>
                      </a:r>
                      <a:endParaRPr lang="en-US" sz="13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621" marR="69621" marT="34811" marB="3481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 &amp; Lo (2025)</a:t>
                      </a:r>
                    </a:p>
                  </a:txBody>
                  <a:tcPr marL="69621" marR="69621" marT="34811" marB="3481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Regression, KNN, Random Forest</a:t>
                      </a:r>
                    </a:p>
                  </a:txBody>
                  <a:tcPr marL="69621" marR="69621" marT="34811" marB="3481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Synthetic + Kepler light curves</a:t>
                      </a:r>
                    </a:p>
                  </a:txBody>
                  <a:tcPr marL="69621" marR="69621" marT="34811" marB="3481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ML performs well after SMOTE  Logistic Regression highest F</a:t>
                      </a:r>
                    </a:p>
                  </a:txBody>
                  <a:tcPr marL="69621" marR="69621" marT="34811" marB="3481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Severe class imbalance, Heavy synthetic dependence, No DL models</a:t>
                      </a:r>
                    </a:p>
                  </a:txBody>
                  <a:tcPr marL="69621" marR="69621" marT="34811" marB="34811" anchor="ctr"/>
                </a:tc>
                <a:extLst>
                  <a:ext uri="{0D108BD9-81ED-4DB2-BD59-A6C34878D82A}">
                    <a16:rowId xmlns:a16="http://schemas.microsoft.com/office/drawing/2014/main" val="519063849"/>
                  </a:ext>
                </a:extLst>
              </a:tr>
              <a:tr h="1196778">
                <a:tc>
                  <a:txBody>
                    <a:bodyPr/>
                    <a:lstStyle/>
                    <a:p>
                      <a:pPr algn="l"/>
                      <a:r>
                        <a:rPr lang="en-US" sz="135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Comparative ML Analysis Using Kepler Data</a:t>
                      </a:r>
                      <a:endParaRPr lang="en-US" sz="13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621" marR="69621" marT="34811" marB="3481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Karimi et al. (2025)</a:t>
                      </a:r>
                    </a:p>
                  </a:txBody>
                  <a:tcPr marL="69621" marR="69621" marT="34811" marB="3481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Regression, Decision Tree, KNN, </a:t>
                      </a:r>
                      <a:r>
                        <a:rPr lang="en-US" sz="135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  <a:endParaRPr lang="en-US" sz="13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621" marR="69621" marT="34811" marB="3481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 Kepler dataset</a:t>
                      </a:r>
                    </a:p>
                  </a:txBody>
                  <a:tcPr marL="69621" marR="69621" marT="34811" marB="3481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 achieves </a:t>
                      </a:r>
                      <a:r>
                        <a:rPr lang="en-US" sz="13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99.8%</a:t>
                      </a:r>
                      <a:r>
                        <a:rPr 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accuracy, SMOTE improves results, effective for time-series photometry</a:t>
                      </a:r>
                    </a:p>
                  </a:txBody>
                  <a:tcPr marL="69621" marR="69621" marT="34811" marB="3481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 positive class (37 planets), Risk of overfitting, No DL comparison, Transit method limitations</a:t>
                      </a:r>
                    </a:p>
                  </a:txBody>
                  <a:tcPr marL="69621" marR="69621" marT="34811" marB="34811" anchor="ctr"/>
                </a:tc>
                <a:extLst>
                  <a:ext uri="{0D108BD9-81ED-4DB2-BD59-A6C34878D82A}">
                    <a16:rowId xmlns:a16="http://schemas.microsoft.com/office/drawing/2014/main" val="2806042874"/>
                  </a:ext>
                </a:extLst>
              </a:tr>
              <a:tr h="1196778">
                <a:tc>
                  <a:txBody>
                    <a:bodyPr/>
                    <a:lstStyle/>
                    <a:p>
                      <a:pPr algn="l"/>
                      <a:r>
                        <a:rPr lang="en-US" sz="135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Statistical Methods for Exoplanet Detection with Radial Velocities</a:t>
                      </a:r>
                      <a:endParaRPr lang="en-US" sz="13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621" marR="69621" marT="34811" marB="3481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Nathan C. Hara &amp; Eric B. Ford</a:t>
                      </a:r>
                    </a:p>
                  </a:txBody>
                  <a:tcPr marL="69621" marR="69621" marT="34811" marB="3481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Periodograms, Bayesian model comparison, Gaussian Processes, MCMC</a:t>
                      </a:r>
                    </a:p>
                  </a:txBody>
                  <a:tcPr marL="69621" marR="69621" marT="34811" marB="3481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 &amp; simulated RV data from spectrographs and the Sun.</a:t>
                      </a:r>
                    </a:p>
                  </a:txBody>
                  <a:tcPr marL="69621" marR="69621" marT="34811" marB="3481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Reviews the challenges and statistical methods for finding exoplanets in noisy, unevenly sampled radial velocity data.</a:t>
                      </a:r>
                    </a:p>
                  </a:txBody>
                  <a:tcPr marL="69621" marR="69621" marT="34811" marB="3481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Computationally expensive; sensitive to model choice; hard to validate except on solar data.</a:t>
                      </a:r>
                    </a:p>
                  </a:txBody>
                  <a:tcPr marL="69621" marR="69621" marT="34811" marB="34811" anchor="ctr"/>
                </a:tc>
                <a:extLst>
                  <a:ext uri="{0D108BD9-81ED-4DB2-BD59-A6C34878D82A}">
                    <a16:rowId xmlns:a16="http://schemas.microsoft.com/office/drawing/2014/main" val="2714320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9713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71856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304800" y="838200"/>
            <a:ext cx="8534400" cy="5638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algn="just">
              <a:spcBef>
                <a:spcPts val="0"/>
              </a:spcBef>
              <a:tabLst>
                <a:tab pos="685800" algn="l"/>
              </a:tabLs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Wingdings" panose="05000000000000000000" pitchFamily="2" charset="2"/>
              <a:buChar char="Ø"/>
              <a:tabLst>
                <a:tab pos="685800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exoplanet detection methods either lack accuracy or lack explanations. </a:t>
            </a:r>
          </a:p>
          <a:p>
            <a:pPr marL="342900" lvl="0" indent="-342900" algn="just">
              <a:spcBef>
                <a:spcPts val="0"/>
              </a:spcBef>
              <a:buFont typeface="Wingdings" panose="05000000000000000000" pitchFamily="2" charset="2"/>
              <a:buChar char="Ø"/>
              <a:tabLst>
                <a:tab pos="685800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ML models provide only feature importance, which does not show where the transit occurs. </a:t>
            </a:r>
          </a:p>
          <a:p>
            <a:pPr marL="342900" lvl="0" indent="-342900" algn="just">
              <a:spcBef>
                <a:spcPts val="0"/>
              </a:spcBef>
              <a:buFont typeface="Wingdings" panose="05000000000000000000" pitchFamily="2" charset="2"/>
              <a:buChar char="Ø"/>
              <a:tabLst>
                <a:tab pos="685800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 used in literature rarely provide visual explanations, making them hard to trust. </a:t>
            </a:r>
          </a:p>
          <a:p>
            <a:pPr marL="342900" lvl="0" indent="-342900" algn="just">
              <a:spcBef>
                <a:spcPts val="0"/>
              </a:spcBef>
              <a:buFont typeface="Wingdings" panose="05000000000000000000" pitchFamily="2" charset="2"/>
              <a:buChar char="Ø"/>
              <a:tabLst>
                <a:tab pos="685800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system that combines accuracy + visual explanation + reduced false positives.</a:t>
            </a:r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0" y="6629400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dirty="0"/>
              <a:t>Exoplanet Transit Detection Using Traditional ML and 1D Convolutional Deep Networks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590779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71856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381000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304800" y="838200"/>
            <a:ext cx="8534400" cy="5638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 and Goal:</a:t>
            </a:r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Wingdings" panose="05000000000000000000" pitchFamily="2" charset="2"/>
              <a:buChar char="Ø"/>
              <a:tabLst>
                <a:tab pos="685800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preprocess Kepler and TESS light-curve subsets.</a:t>
            </a:r>
          </a:p>
          <a:p>
            <a:pPr marL="342900" lvl="0" indent="-342900" algn="just">
              <a:spcBef>
                <a:spcPts val="0"/>
              </a:spcBef>
              <a:buFont typeface="Wingdings" panose="05000000000000000000" pitchFamily="2" charset="2"/>
              <a:buChar char="Ø"/>
              <a:tabLst>
                <a:tab pos="685800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main model using 1D-CNN + Grad-CAM for raw light-curve learning and visual explanations.</a:t>
            </a:r>
          </a:p>
          <a:p>
            <a:pPr marL="342900" lvl="0" indent="-342900" algn="just">
              <a:spcBef>
                <a:spcPts val="0"/>
              </a:spcBef>
              <a:buFont typeface="Wingdings" panose="05000000000000000000" pitchFamily="2" charset="2"/>
              <a:buChar char="Ø"/>
              <a:tabLst>
                <a:tab pos="685800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two models to show the difference between traditional and deep-learning.</a:t>
            </a:r>
          </a:p>
          <a:p>
            <a:pPr marL="342900" lvl="0" indent="-342900" algn="just">
              <a:spcBef>
                <a:spcPts val="0"/>
              </a:spcBef>
              <a:buFont typeface="Wingdings" panose="05000000000000000000" pitchFamily="2" charset="2"/>
              <a:buChar char="Ø"/>
              <a:tabLst>
                <a:tab pos="685800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false positives and apply techniques to reduce them.</a:t>
            </a:r>
          </a:p>
          <a:p>
            <a:pPr marL="342900" lvl="0" indent="-342900" algn="just">
              <a:spcBef>
                <a:spcPts val="0"/>
              </a:spcBef>
              <a:buFont typeface="Wingdings" panose="05000000000000000000" pitchFamily="2" charset="2"/>
              <a:buChar char="Ø"/>
              <a:tabLst>
                <a:tab pos="685800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system on cross-mission data (Kepler → TESS).</a:t>
            </a:r>
          </a:p>
          <a:p>
            <a:pPr marL="342900" lvl="0" indent="-342900" algn="just">
              <a:spcBef>
                <a:spcPts val="0"/>
              </a:spcBef>
              <a:buFont typeface="Wingdings" panose="05000000000000000000" pitchFamily="2" charset="2"/>
              <a:buChar char="Ø"/>
              <a:tabLst>
                <a:tab pos="685800" algn="l"/>
              </a:tabLs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Wingdings" panose="05000000000000000000" pitchFamily="2" charset="2"/>
              <a:buChar char="Ø"/>
              <a:tabLst>
                <a:tab pos="685800" algn="l"/>
              </a:tabLs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Wingdings" panose="05000000000000000000" pitchFamily="2" charset="2"/>
              <a:buChar char="Ø"/>
              <a:tabLst>
                <a:tab pos="685800" algn="l"/>
              </a:tabLst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0" y="6629400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dirty="0"/>
              <a:t>Exoplanet Transit Detection Using Traditional ML and 1D Convolutional Deep Networks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764205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71856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Research Methodology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277906" y="798796"/>
            <a:ext cx="8534400" cy="5638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algn="just">
              <a:spcBef>
                <a:spcPts val="0"/>
              </a:spcBef>
              <a:tabLst>
                <a:tab pos="685800" algn="l"/>
              </a:tabLst>
            </a:pPr>
            <a:r>
              <a:rPr lang="en-US" sz="2400" b="1" i="0" dirty="0">
                <a:effectLst/>
                <a:latin typeface="fkGroteskNeue"/>
              </a:rPr>
              <a:t>1.Data Collection</a:t>
            </a:r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r>
              <a:rPr lang="en-US" sz="2200" dirty="0"/>
              <a:t>Selecting a two subsets “Kepler objects of interest” table and “TESS Candidates” table from Kepler KOI and TESS TOI datasets.</a:t>
            </a:r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dirty="0"/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dirty="0"/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dirty="0"/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-24063" y="6629400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dirty="0"/>
              <a:t>Exoplanet Transit Detection Using Traditional ML and 1D Convolutional Deep Networks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DBEFA209-D961-4F08-96AD-F6545FD440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849356"/>
              </p:ext>
            </p:extLst>
          </p:nvPr>
        </p:nvGraphicFramePr>
        <p:xfrm>
          <a:off x="356616" y="2209800"/>
          <a:ext cx="8534400" cy="196088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2844800">
                  <a:extLst>
                    <a:ext uri="{9D8B030D-6E8A-4147-A177-3AD203B41FA5}">
                      <a16:colId xmlns:a16="http://schemas.microsoft.com/office/drawing/2014/main" val="1531914575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3892359602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192292674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lang="en-US" dirty="0"/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 is contains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341869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Kepler Objects of Interest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NASA Exoplanet Archive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Labeled signals (planet/not planet) from Kepler telescope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411395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r>
                        <a:rPr lang="en-US" dirty="0"/>
                        <a:t>TESS Candidates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NASA Exoplanet Archive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Labeled signals from TESS telescope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4967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B54E0FF-7DE5-4632-9CFE-FBADD4F3AAE6}"/>
              </a:ext>
            </a:extLst>
          </p:cNvPr>
          <p:cNvSpPr txBox="1"/>
          <p:nvPr/>
        </p:nvSpPr>
        <p:spPr>
          <a:xfrm>
            <a:off x="307788" y="4343400"/>
            <a:ext cx="853440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2.Preprocessing: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dirty="0"/>
              <a:t>Employing</a:t>
            </a:r>
            <a:r>
              <a:rPr lang="en-US" sz="2200" b="0" i="0" dirty="0">
                <a:effectLst/>
              </a:rPr>
              <a:t> ”</a:t>
            </a:r>
            <a:r>
              <a:rPr lang="en-US" sz="2200" b="0" i="0" dirty="0" err="1">
                <a:effectLst/>
              </a:rPr>
              <a:t>Savitzky</a:t>
            </a:r>
            <a:r>
              <a:rPr lang="en-US" sz="2200" b="0" i="0" dirty="0">
                <a:effectLst/>
              </a:rPr>
              <a:t>–</a:t>
            </a:r>
            <a:r>
              <a:rPr lang="en-US" sz="2200" b="0" i="0" dirty="0" err="1">
                <a:effectLst/>
              </a:rPr>
              <a:t>Golay</a:t>
            </a:r>
            <a:r>
              <a:rPr lang="en-US" sz="2200" b="0" i="0" dirty="0">
                <a:effectLst/>
              </a:rPr>
              <a:t>” filtering to denoise the light curves.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effectLst/>
              </a:rPr>
              <a:t>Normalize flux values for each light curve.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effectLst/>
              </a:rPr>
              <a:t>Crop light curves to a consistent fixed window length.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effectLst/>
              </a:rPr>
              <a:t>Use </a:t>
            </a:r>
            <a:r>
              <a:rPr lang="en-US" sz="2200" dirty="0"/>
              <a:t>data augmentation </a:t>
            </a:r>
            <a:r>
              <a:rPr lang="en-US" sz="2200" b="0" i="0" dirty="0">
                <a:effectLst/>
              </a:rPr>
              <a:t>techniques to enhance model robustness.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effectLst/>
              </a:rPr>
              <a:t>Handle missing values by imputation or masking</a:t>
            </a:r>
            <a:r>
              <a:rPr lang="en-US" b="0" i="0" dirty="0">
                <a:effectLst/>
                <a:latin typeface="fkGroteskNeue"/>
              </a:rPr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906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663" y="84794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>
          <a:xfrm>
            <a:off x="7034463" y="6542338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549" y="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80679" y="84794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Research Methodology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cntd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.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304800" y="751138"/>
            <a:ext cx="8534400" cy="5638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algn="just">
              <a:spcBef>
                <a:spcPts val="0"/>
              </a:spcBef>
              <a:tabLst>
                <a:tab pos="685800" algn="l"/>
              </a:tabLst>
            </a:pPr>
            <a:r>
              <a:rPr lang="en-US" sz="2400" b="1" i="0" dirty="0">
                <a:effectLst/>
                <a:latin typeface="fkGroteskNeue"/>
              </a:rPr>
              <a:t>3.Baseline Model: </a:t>
            </a:r>
            <a:r>
              <a:rPr lang="en-US" sz="2400" b="1" i="0" dirty="0" err="1">
                <a:effectLst/>
                <a:latin typeface="fkGroteskNeue"/>
              </a:rPr>
              <a:t>XGBoost</a:t>
            </a:r>
            <a:r>
              <a:rPr lang="en-US" sz="2400" b="1" i="0" dirty="0">
                <a:effectLst/>
                <a:latin typeface="fkGroteskNeue"/>
              </a:rPr>
              <a:t> + SHAP</a:t>
            </a:r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r>
              <a:rPr lang="en-US" sz="2200" dirty="0"/>
              <a:t>Extract tabular features:</a:t>
            </a:r>
          </a:p>
          <a:p>
            <a:pPr marL="342900" lvl="0" indent="-342900" algn="just"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200" dirty="0"/>
              <a:t>Transit depth</a:t>
            </a:r>
          </a:p>
          <a:p>
            <a:pPr marL="342900" lvl="0" indent="-342900" algn="just"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200" dirty="0"/>
              <a:t>Duration</a:t>
            </a:r>
          </a:p>
          <a:p>
            <a:pPr marL="342900" lvl="0" indent="-342900" algn="just"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200" dirty="0"/>
              <a:t>Periodicity</a:t>
            </a:r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r>
              <a:rPr lang="en-US" sz="2200" dirty="0"/>
              <a:t>Train an </a:t>
            </a:r>
            <a:r>
              <a:rPr lang="en-US" sz="2200" dirty="0" err="1"/>
              <a:t>XGBoost</a:t>
            </a:r>
            <a:r>
              <a:rPr lang="en-US" sz="2200" dirty="0"/>
              <a:t> classifier using these features and evaluate performance using metrics.</a:t>
            </a:r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dirty="0"/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dirty="0"/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dirty="0"/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dirty="0"/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dirty="0"/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dirty="0"/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dirty="0"/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dirty="0"/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dirty="0"/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dirty="0"/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dirty="0"/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dirty="0"/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0" y="654233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dirty="0"/>
              <a:t>Exoplanet Transit Detection Using Traditional ML and 1D Convolutional Deep Networks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31984" y="16032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24202C8D-09F5-4050-AC08-013E17F35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98062"/>
              </p:ext>
            </p:extLst>
          </p:nvPr>
        </p:nvGraphicFramePr>
        <p:xfrm>
          <a:off x="731200" y="3429000"/>
          <a:ext cx="7696199" cy="2960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131">
                  <a:extLst>
                    <a:ext uri="{9D8B030D-6E8A-4147-A177-3AD203B41FA5}">
                      <a16:colId xmlns:a16="http://schemas.microsoft.com/office/drawing/2014/main" val="483966536"/>
                    </a:ext>
                  </a:extLst>
                </a:gridCol>
                <a:gridCol w="2161018">
                  <a:extLst>
                    <a:ext uri="{9D8B030D-6E8A-4147-A177-3AD203B41FA5}">
                      <a16:colId xmlns:a16="http://schemas.microsoft.com/office/drawing/2014/main" val="403389355"/>
                    </a:ext>
                  </a:extLst>
                </a:gridCol>
                <a:gridCol w="4365050">
                  <a:extLst>
                    <a:ext uri="{9D8B030D-6E8A-4147-A177-3AD203B41FA5}">
                      <a16:colId xmlns:a16="http://schemas.microsoft.com/office/drawing/2014/main" val="1561842118"/>
                    </a:ext>
                  </a:extLst>
                </a:gridCol>
              </a:tblGrid>
              <a:tr h="381111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</a:rPr>
                        <a:t>Metric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</a:rPr>
                        <a:t>Formula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Description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3315007679"/>
                  </a:ext>
                </a:extLst>
              </a:tr>
              <a:tr h="644957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Accuracy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         TP+TN</a:t>
                      </a:r>
                    </a:p>
                    <a:p>
                      <a:pPr algn="l"/>
                      <a:r>
                        <a:rPr lang="en-US" dirty="0">
                          <a:effectLst/>
                        </a:rPr>
                        <a:t>      TP+TN+FP+FN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Fraction of correct predictions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3023881553"/>
                  </a:ext>
                </a:extLst>
              </a:tr>
              <a:tr h="644957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Precision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        TP</a:t>
                      </a:r>
                    </a:p>
                    <a:p>
                      <a:pPr algn="l"/>
                      <a:r>
                        <a:rPr lang="en-US" dirty="0">
                          <a:effectLst/>
                        </a:rPr>
                        <a:t>      TP+FP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How many predicted transits are truly transits (purity)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590821210"/>
                  </a:ext>
                </a:extLst>
              </a:tr>
              <a:tr h="644957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Recall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        TP</a:t>
                      </a:r>
                    </a:p>
                    <a:p>
                      <a:pPr algn="l"/>
                      <a:r>
                        <a:rPr lang="en-US" dirty="0">
                          <a:effectLst/>
                        </a:rPr>
                        <a:t>     TP+FN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How many true transits are detected (coverage)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1535221220"/>
                  </a:ext>
                </a:extLst>
              </a:tr>
              <a:tr h="644957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F1 Score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2×Precision×Recall</a:t>
                      </a:r>
                    </a:p>
                    <a:p>
                      <a:pPr algn="l"/>
                      <a:r>
                        <a:rPr lang="en-US" dirty="0">
                          <a:effectLst/>
                        </a:rPr>
                        <a:t>   Precision+ Recall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Harmonic mean of Precision and Recall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3127603429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5CB1F6-CB94-4C12-89CC-0183CDCAA689}"/>
              </a:ext>
            </a:extLst>
          </p:cNvPr>
          <p:cNvCxnSpPr>
            <a:cxnSpLocks/>
          </p:cNvCxnSpPr>
          <p:nvPr/>
        </p:nvCxnSpPr>
        <p:spPr>
          <a:xfrm>
            <a:off x="2057400" y="4114800"/>
            <a:ext cx="147357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4F1A456-66DA-4CD0-9EE1-A83300CF373B}"/>
              </a:ext>
            </a:extLst>
          </p:cNvPr>
          <p:cNvCxnSpPr>
            <a:cxnSpLocks/>
          </p:cNvCxnSpPr>
          <p:nvPr/>
        </p:nvCxnSpPr>
        <p:spPr>
          <a:xfrm>
            <a:off x="2051237" y="5410200"/>
            <a:ext cx="838200" cy="8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6B2BC42-BE91-4D8C-AB45-653B321EC334}"/>
              </a:ext>
            </a:extLst>
          </p:cNvPr>
          <p:cNvCxnSpPr>
            <a:cxnSpLocks/>
          </p:cNvCxnSpPr>
          <p:nvPr/>
        </p:nvCxnSpPr>
        <p:spPr>
          <a:xfrm>
            <a:off x="1955986" y="6096000"/>
            <a:ext cx="1676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6E49F2C-429E-4FB0-8ACD-DC24823ADF6C}"/>
              </a:ext>
            </a:extLst>
          </p:cNvPr>
          <p:cNvCxnSpPr>
            <a:cxnSpLocks/>
          </p:cNvCxnSpPr>
          <p:nvPr/>
        </p:nvCxnSpPr>
        <p:spPr>
          <a:xfrm flipV="1">
            <a:off x="2082613" y="4787480"/>
            <a:ext cx="711573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4330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663" y="84794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>
          <a:xfrm>
            <a:off x="7034463" y="6542338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549" y="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80679" y="84794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Research Methodology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cntd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.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328863" y="751138"/>
            <a:ext cx="8534400" cy="5638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>
              <a:tabLst>
                <a:tab pos="685800" algn="l"/>
              </a:tabLst>
            </a:pPr>
            <a:endParaRPr lang="en-US" sz="2400" dirty="0"/>
          </a:p>
          <a:p>
            <a:pPr marL="342900" indent="-342900" algn="just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200" dirty="0"/>
              <a:t>Use SHAP(Shapley Additive explanations) to interpret feature importance and explain the model's predictions.</a:t>
            </a:r>
          </a:p>
          <a:p>
            <a:pPr marL="342900" lvl="0" indent="-342900" algn="just"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200" dirty="0"/>
              <a:t>Analyze strengths and limitations of traditional ML </a:t>
            </a:r>
            <a:r>
              <a:rPr lang="en-US" sz="2200" dirty="0" err="1"/>
              <a:t>explainability</a:t>
            </a:r>
            <a:r>
              <a:rPr lang="en-US" sz="2200" dirty="0"/>
              <a:t> on light curves.</a:t>
            </a:r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b="1" i="0" dirty="0">
              <a:effectLst/>
              <a:latin typeface="fkGroteskNeue"/>
            </a:endParaRPr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r>
              <a:rPr lang="en-US" sz="2400" b="1" i="0" dirty="0">
                <a:effectLst/>
                <a:latin typeface="fkGroteskNeue"/>
              </a:rPr>
              <a:t>4.Main Model: 1D CNN + Grad-CAM</a:t>
            </a:r>
            <a:endParaRPr lang="en-US" sz="2400" dirty="0"/>
          </a:p>
          <a:p>
            <a:pPr marL="342900" lvl="0" indent="-342900" algn="just"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200" dirty="0"/>
              <a:t>Use raw light curve data as input to a 1D Convolutional Neural Network (CNN).</a:t>
            </a:r>
          </a:p>
          <a:p>
            <a:pPr marL="342900" lvl="0" indent="-342900" algn="just"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200" dirty="0"/>
              <a:t>Design and train the CNN to classify transits.</a:t>
            </a:r>
          </a:p>
          <a:p>
            <a:pPr marL="342900" lvl="0" indent="-342900" algn="just"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200" dirty="0"/>
              <a:t>Evaluate with the same metrics as the baseline.</a:t>
            </a:r>
          </a:p>
          <a:p>
            <a:pPr marL="342900" lvl="0" indent="-342900" algn="just"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200" dirty="0"/>
              <a:t>Apply Grad-CAM to generate visual attribution maps, highlighting which time steps influenced each CNN prediction.</a:t>
            </a:r>
          </a:p>
          <a:p>
            <a:pPr marL="342900" lvl="0" indent="-342900" algn="just"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200" dirty="0"/>
              <a:t>Compare interpretability with the </a:t>
            </a:r>
            <a:r>
              <a:rPr lang="en-US" sz="2200" dirty="0" err="1"/>
              <a:t>XGBoost+SHAP</a:t>
            </a:r>
            <a:r>
              <a:rPr lang="en-US" sz="2200" dirty="0"/>
              <a:t> approach.</a:t>
            </a:r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200" dirty="0"/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dirty="0"/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dirty="0"/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dirty="0"/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0" y="654233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dirty="0"/>
              <a:t>Exoplanet Transit Detection Using Traditional ML and 1D Convolutional Deep Networks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31984" y="16032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724360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663" y="84794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>
          <a:xfrm>
            <a:off x="7034463" y="6542338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549" y="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80679" y="84794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328863" y="751138"/>
            <a:ext cx="8534400" cy="5638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200" dirty="0"/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dirty="0"/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dirty="0"/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dirty="0"/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0" y="654233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dirty="0"/>
              <a:t>Exoplanet Transit Detection Using Traditional ML and 1D Convolutional Deep Networks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31984" y="16032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541024-6FA2-43F4-B5F0-5D879829B0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19" y="278945"/>
            <a:ext cx="8487246" cy="6699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128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663" y="84794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>
          <a:xfrm>
            <a:off x="7034463" y="6542338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549" y="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80679" y="84794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Research Methodology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cntd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.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86035" y="548660"/>
            <a:ext cx="8534400" cy="5638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b="1" i="0" dirty="0">
              <a:effectLst/>
              <a:latin typeface="fkGroteskNeue"/>
            </a:endParaRPr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r>
              <a:rPr lang="en-US" sz="2400" b="1" i="0" dirty="0">
                <a:effectLst/>
                <a:latin typeface="fkGroteskNeue"/>
              </a:rPr>
              <a:t>5. Experimental Design</a:t>
            </a:r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dirty="0"/>
          </a:p>
          <a:p>
            <a:pPr marL="342900" lvl="0" indent="-342900" algn="just"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200" b="1" i="0" dirty="0">
                <a:effectLst/>
                <a:latin typeface="fkGroteskNeue"/>
              </a:rPr>
              <a:t>Experiment 1: Noise Ablation: </a:t>
            </a:r>
            <a:r>
              <a:rPr lang="en-US" sz="2200" b="0" i="0" dirty="0">
                <a:effectLst/>
                <a:latin typeface="fkGroteskNeue"/>
              </a:rPr>
              <a:t>Compare CNN performance with raw (noisy) vs. denoised (</a:t>
            </a:r>
            <a:r>
              <a:rPr lang="en-US" sz="2200" b="0" i="0" dirty="0" err="1">
                <a:effectLst/>
                <a:latin typeface="fkGroteskNeue"/>
              </a:rPr>
              <a:t>Savitzky</a:t>
            </a:r>
            <a:r>
              <a:rPr lang="en-US" sz="2200" b="0" i="0" dirty="0">
                <a:effectLst/>
                <a:latin typeface="fkGroteskNeue"/>
              </a:rPr>
              <a:t>–</a:t>
            </a:r>
            <a:r>
              <a:rPr lang="en-US" sz="2200" b="0" i="0" dirty="0" err="1">
                <a:effectLst/>
                <a:latin typeface="fkGroteskNeue"/>
              </a:rPr>
              <a:t>Golay</a:t>
            </a:r>
            <a:r>
              <a:rPr lang="en-US" sz="2200" b="0" i="0" dirty="0">
                <a:effectLst/>
                <a:latin typeface="fkGroteskNeue"/>
              </a:rPr>
              <a:t> filtered) data to quantify preprocessing impact.</a:t>
            </a:r>
          </a:p>
          <a:p>
            <a:pPr marL="342900" lvl="0" indent="-342900" algn="just"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685800" algn="l"/>
              </a:tabLst>
            </a:pPr>
            <a:endParaRPr lang="en-US" sz="2200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b="1" i="0" dirty="0">
                <a:effectLst/>
                <a:latin typeface="fkGroteskNeue"/>
              </a:rPr>
              <a:t>Experiment 2: False Positive Diagnosis: </a:t>
            </a:r>
            <a:r>
              <a:rPr lang="en-US" sz="2200" b="0" i="0" dirty="0">
                <a:effectLst/>
                <a:latin typeface="fkGroteskNeue"/>
              </a:rPr>
              <a:t>Use Grad-CAM to analyze model mistakes: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200" b="0" i="0" dirty="0">
                <a:effectLst/>
                <a:latin typeface="fkGroteskNeue"/>
              </a:rPr>
              <a:t>Categorize false positives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200" b="0" i="0" dirty="0">
                <a:effectLst/>
                <a:latin typeface="fkGroteskNeue"/>
              </a:rPr>
              <a:t> Identify patterns in erroneous predictions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sz="2200" b="0" i="0" dirty="0">
              <a:effectLst/>
              <a:latin typeface="fkGroteskNeue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i="0" dirty="0">
                <a:effectLst/>
                <a:latin typeface="fkGroteskNeue"/>
              </a:rPr>
              <a:t>Experiment 3: Explanation Consistency</a:t>
            </a:r>
            <a:br>
              <a:rPr lang="en-US" sz="2200" b="0" i="0" dirty="0">
                <a:effectLst/>
                <a:latin typeface="fkGroteskNeue"/>
              </a:rPr>
            </a:br>
            <a:r>
              <a:rPr lang="en-US" sz="2200" b="0" i="0" dirty="0">
                <a:effectLst/>
                <a:latin typeface="fkGroteskNeue"/>
              </a:rPr>
              <a:t>Probe whether Grad-CAM consistently highlights real transit regions for true-positive detections.</a:t>
            </a:r>
          </a:p>
          <a:p>
            <a:pPr algn="l"/>
            <a:endParaRPr lang="en-US" sz="2200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dirty="0">
              <a:effectLst/>
              <a:latin typeface="fkGroteskNeue"/>
            </a:endParaRPr>
          </a:p>
          <a:p>
            <a:pPr marL="342900" lvl="0" indent="-342900" algn="just"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685800" algn="l"/>
              </a:tabLst>
            </a:pPr>
            <a:endParaRPr lang="en-US" sz="2400" b="1" dirty="0"/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b="1" dirty="0"/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0" y="654233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dirty="0"/>
              <a:t>Exoplanet Transit Detection Using Traditional ML and 1D Convolutional Deep Networks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31984" y="16032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32357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663" y="84794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>
          <a:xfrm>
            <a:off x="7034463" y="6542338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549" y="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80679" y="84794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Research Methodology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cntd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.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81263" y="539014"/>
            <a:ext cx="8534400" cy="5638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l"/>
            <a:endParaRPr lang="en-US" sz="2400" b="1" i="0" dirty="0">
              <a:effectLst/>
              <a:latin typeface="fkGroteskNeue"/>
            </a:endParaRPr>
          </a:p>
          <a:p>
            <a:pPr algn="l"/>
            <a:r>
              <a:rPr lang="en-US" sz="2400" b="1" i="0" dirty="0">
                <a:effectLst/>
                <a:latin typeface="fkGroteskNeue"/>
              </a:rPr>
              <a:t>7. Comparative analysis and Output</a:t>
            </a:r>
          </a:p>
          <a:p>
            <a:pPr algn="l"/>
            <a:endParaRPr lang="en-US" sz="2400" b="1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1" i="0" dirty="0">
                <a:effectLst/>
                <a:latin typeface="fkGroteskNeue"/>
              </a:rPr>
              <a:t>Baseline Model</a:t>
            </a:r>
            <a:r>
              <a:rPr lang="en-US" sz="2200" b="0" i="0" dirty="0">
                <a:effectLst/>
                <a:latin typeface="fkGroteskNeue"/>
              </a:rPr>
              <a:t>: Performance and SHAP-based feature explanations are reported. Limitations in capturing complex transit features and explanation granularity are discussed.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1" i="0" dirty="0">
                <a:effectLst/>
                <a:latin typeface="fkGroteskNeue"/>
              </a:rPr>
              <a:t>Main Model</a:t>
            </a:r>
            <a:r>
              <a:rPr lang="en-US" sz="2200" b="0" i="0" dirty="0">
                <a:effectLst/>
                <a:latin typeface="fkGroteskNeue"/>
              </a:rPr>
              <a:t>: 1D CNN results are interpreted with Grad-CAM visualizations, illustrating the localization of time regions responsible for predictions.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1" i="0" dirty="0">
                <a:effectLst/>
              </a:rPr>
              <a:t>Experimental Insights: </a:t>
            </a:r>
            <a:r>
              <a:rPr lang="en-US" sz="2200" b="0" i="0" dirty="0">
                <a:effectLst/>
              </a:rPr>
              <a:t>Noise ablation studies and false positive analyses reveal preprocessing utility and model interpretability.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1" i="0" dirty="0">
                <a:effectLst/>
              </a:rPr>
              <a:t>Cross-Mission Results</a:t>
            </a:r>
            <a:r>
              <a:rPr lang="en-US" sz="2200" b="0" i="0" dirty="0">
                <a:effectLst/>
              </a:rPr>
              <a:t>: Comparative performance across Kepler and TESS assesses generalization</a:t>
            </a:r>
          </a:p>
          <a:p>
            <a:pPr algn="l"/>
            <a:endParaRPr lang="en-US" sz="2200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2200" b="0" i="0" dirty="0">
              <a:effectLst/>
              <a:latin typeface="fkGroteskNeue"/>
            </a:endParaRPr>
          </a:p>
          <a:p>
            <a:pPr marL="342900" lvl="0" indent="-342900" algn="just"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685800" algn="l"/>
              </a:tabLst>
            </a:pPr>
            <a:endParaRPr lang="en-US" sz="2400" b="1" dirty="0"/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b="1" dirty="0"/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0" y="654233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dirty="0"/>
              <a:t>Exoplanet Transit Detection Using Traditional ML and 1D Convolutional Deep Networks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31984" y="16032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44016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663" y="84794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>
          <a:xfrm>
            <a:off x="7034463" y="6542338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549" y="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80679" y="84794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Research Methodology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cntd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.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81263" y="539014"/>
            <a:ext cx="8534400" cy="5638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l"/>
            <a:endParaRPr lang="en-US" sz="2200" b="0" i="0" dirty="0">
              <a:effectLst/>
              <a:latin typeface="fkGroteskNeue"/>
            </a:endParaRPr>
          </a:p>
          <a:p>
            <a:r>
              <a:rPr lang="en-US" sz="2200" b="1" dirty="0"/>
              <a:t>Final Output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A combined, explainable ML+DL framework.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Visual explanation tool for transit regions.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Comparison results showing the improvement from baseline to CNN.</a:t>
            </a:r>
          </a:p>
          <a:p>
            <a:pPr marL="342900" lvl="0" indent="-342900" algn="just"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685800" algn="l"/>
              </a:tabLst>
            </a:pPr>
            <a:endParaRPr lang="en-US" sz="2400" b="1" dirty="0"/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b="1" dirty="0"/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0" y="654233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dirty="0"/>
              <a:t>Exoplanet Transit Detection Using Traditional ML and 1D Convolutional Deep Networks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31984" y="16032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975736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663" y="84794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>
          <a:xfrm>
            <a:off x="7034463" y="6542338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549" y="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80679" y="84794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Research Methodology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cntd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.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81263" y="539014"/>
            <a:ext cx="8534400" cy="5638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b="1" dirty="0"/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0" y="654233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dirty="0"/>
              <a:t>Exoplanet Transit Detection Using Traditional ML and 1D Convolutional Deep Networks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31984" y="16032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409ED29-047F-451F-941A-F62BB6111B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54" y="561426"/>
            <a:ext cx="7821498" cy="604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355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663" y="84794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>
          <a:xfrm>
            <a:off x="7034463" y="6542338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549" y="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80679" y="84794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Work Plan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81263" y="539014"/>
            <a:ext cx="8534400" cy="5638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endParaRPr lang="en-US" sz="2200" b="1" dirty="0"/>
          </a:p>
          <a:p>
            <a:r>
              <a:rPr lang="en-US" sz="2200" b="1" dirty="0"/>
              <a:t>Week 1 – Dataset Preparation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Download Kepler KOI and TESS TOI subsets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Clean, label, and organize datasets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Apply all preprocessing:</a:t>
            </a:r>
          </a:p>
          <a:p>
            <a:r>
              <a:rPr lang="en-US" sz="2200" b="1" dirty="0"/>
              <a:t>denoise → flatten → normalize → fix sequence length</a:t>
            </a:r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200" b="1" dirty="0"/>
          </a:p>
          <a:p>
            <a:r>
              <a:rPr lang="en-US" sz="2200" b="1" dirty="0"/>
              <a:t>Week 2 – Baseline Model (</a:t>
            </a:r>
            <a:r>
              <a:rPr lang="en-US" sz="2200" b="1" dirty="0" err="1"/>
              <a:t>XGBoost</a:t>
            </a:r>
            <a:r>
              <a:rPr lang="en-US" sz="2200" b="1" dirty="0"/>
              <a:t> + SHAP)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Extract numerical features from each light curve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Train </a:t>
            </a:r>
            <a:r>
              <a:rPr lang="en-US" sz="2200" dirty="0" err="1"/>
              <a:t>XGBoost</a:t>
            </a:r>
            <a:r>
              <a:rPr lang="en-US" sz="2200" dirty="0"/>
              <a:t> classifier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Evaluate performance (accuracy, F1-score)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Generate SHAP feature-importance explanations</a:t>
            </a:r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200" b="1" dirty="0"/>
          </a:p>
          <a:p>
            <a:r>
              <a:rPr lang="en-US" sz="2200" b="1" dirty="0"/>
              <a:t>Week 3 – Main Model (1D CNN + Grad-CAM)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Build and train the 1D-CNN model on raw light curves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Validate model and tune hyperparameters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Generate Grad-CAM visual heatmaps</a:t>
            </a:r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dirty="0"/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0" y="654233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dirty="0"/>
              <a:t>Exoplanet Transit Detection Using Traditional ML and 1D Convolutional Deep Networks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31984" y="16032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6102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663" y="84794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>
          <a:xfrm>
            <a:off x="7034463" y="6542338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549" y="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80679" y="84794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Work Plan </a:t>
            </a:r>
            <a:r>
              <a:rPr lang="en-US" sz="3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cntd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.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81263" y="549174"/>
            <a:ext cx="8534400" cy="5638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endParaRPr lang="en-US" sz="2200" b="1" dirty="0"/>
          </a:p>
          <a:p>
            <a:r>
              <a:rPr lang="en-US" sz="2200" b="1" dirty="0"/>
              <a:t>Week 4 – Model Comparison &amp;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Compare baseline vs deep learning:</a:t>
            </a:r>
            <a:br>
              <a:rPr lang="en-US" sz="2200" dirty="0"/>
            </a:br>
            <a:r>
              <a:rPr lang="en-US" sz="2200" dirty="0"/>
              <a:t>Analyze misclassified samples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Reduce false positives using thresholding, filtering, or feedback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dirty="0"/>
          </a:p>
          <a:p>
            <a:r>
              <a:rPr lang="en-US" sz="2200" b="1" dirty="0"/>
              <a:t>Week 5 – Cross-Mission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Train on Kepler to Test on TESS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Analyze generalization 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Explain differences using Grad-CAM / SHAP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dirty="0"/>
          </a:p>
          <a:p>
            <a:r>
              <a:rPr lang="en-US" sz="2200" b="1" dirty="0"/>
              <a:t>Week 6 – Final Writing &amp; Presentation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Document methodology, experiments, and 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Prepare visual explanation charts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Prepare final thesis and presentation slides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0" algn="just">
              <a:spcBef>
                <a:spcPts val="0"/>
              </a:spcBef>
              <a:tabLst>
                <a:tab pos="685800" algn="l"/>
              </a:tabLst>
            </a:pPr>
            <a:endParaRPr lang="en-US" sz="2400" dirty="0"/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0" y="654233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dirty="0"/>
              <a:t>Exoplanet Transit Detection Using Traditional ML and 1D Convolutional Deep Networks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31984" y="16032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384753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56388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200" dirty="0">
                <a:cs typeface="Times New Roman" panose="02020603050405020304" pitchFamily="18" charset="0"/>
              </a:rPr>
              <a:t>This research aims to build an explainable and reliable system for detecting exoplanet transits using space telescope light-curve data. By combining a traditional machine-learning baseline (</a:t>
            </a:r>
            <a:r>
              <a:rPr lang="en-US" sz="2200" dirty="0" err="1">
                <a:cs typeface="Times New Roman" panose="02020603050405020304" pitchFamily="18" charset="0"/>
              </a:rPr>
              <a:t>XGBoost</a:t>
            </a:r>
            <a:r>
              <a:rPr lang="en-US" sz="2200" dirty="0">
                <a:cs typeface="Times New Roman" panose="02020603050405020304" pitchFamily="18" charset="0"/>
              </a:rPr>
              <a:t> + SHAP) with a deep-learning main model (1D-CNN + Grad-CAM), the study provides both numerical and visual explanations, addressing major gaps in current literature. The methodology improves interpretability, reduces false positives, and tests generalization across different missions (Kepler → TESS). The final outcome is a complete, scientifically meaningful framework that enhances accuracy while making model decisions clearer and more trustworthy for astronomers and researchers.</a:t>
            </a:r>
            <a:endParaRPr lang="en-US" sz="2200" i="0" dirty="0">
              <a:effectLst/>
              <a:cs typeface="Times New Roman" panose="02020603050405020304" pitchFamily="18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Slide Number Placeholder 3"/>
          <p:cNvSpPr txBox="1">
            <a:spLocks/>
          </p:cNvSpPr>
          <p:nvPr/>
        </p:nvSpPr>
        <p:spPr>
          <a:xfrm>
            <a:off x="0" y="6629400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dirty="0"/>
              <a:t>Exoplanet Transit Detection Using Traditional ML and 1D Convolutional Deep Networks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763000" cy="4572000"/>
          </a:xfrm>
        </p:spPr>
        <p:txBody>
          <a:bodyPr>
            <a:normAutofit fontScale="92500" lnSpcReduction="20000"/>
          </a:bodyPr>
          <a:lstStyle/>
          <a:p>
            <a:pPr algn="just">
              <a:buNone/>
            </a:pPr>
            <a:endParaRPr lang="en-US" sz="1800" b="0" i="0" dirty="0">
              <a:effectLst/>
              <a:cs typeface="Times New Roman" panose="02020603050405020304" pitchFamily="18" charset="0"/>
            </a:endParaRPr>
          </a:p>
          <a:p>
            <a:pPr indent="-274320" algn="just">
              <a:buNone/>
            </a:pPr>
            <a:r>
              <a:rPr lang="en-US" sz="2200" b="0" i="0" dirty="0">
                <a:effectLst/>
                <a:cs typeface="Times New Roman" panose="02020603050405020304" pitchFamily="18" charset="0"/>
              </a:rPr>
              <a:t>Karimi, R., Mousavi-Sadr, M., </a:t>
            </a:r>
            <a:r>
              <a:rPr lang="en-US" sz="2200" b="0" i="0" dirty="0" err="1">
                <a:effectLst/>
                <a:cs typeface="Times New Roman" panose="02020603050405020304" pitchFamily="18" charset="0"/>
              </a:rPr>
              <a:t>Zhoolideh</a:t>
            </a:r>
            <a:r>
              <a:rPr lang="en-US" sz="2200" b="0" i="0" dirty="0">
                <a:effectLst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cs typeface="Times New Roman" panose="02020603050405020304" pitchFamily="18" charset="0"/>
              </a:rPr>
              <a:t>Haghighi</a:t>
            </a:r>
            <a:r>
              <a:rPr lang="en-US" sz="2200" b="0" i="0" dirty="0">
                <a:effectLst/>
                <a:cs typeface="Times New Roman" panose="02020603050405020304" pitchFamily="18" charset="0"/>
              </a:rPr>
              <a:t>, M. H., &amp; Tabatabaei, F. S. (2025). Machine learning for exoplanet detection in high-contrast spectroscopy. </a:t>
            </a:r>
            <a:r>
              <a:rPr lang="en-US" sz="2200" b="0" i="0" dirty="0" err="1">
                <a:effectLst/>
                <a:cs typeface="Times New Roman" panose="02020603050405020304" pitchFamily="18" charset="0"/>
              </a:rPr>
              <a:t>arXiv</a:t>
            </a:r>
            <a:r>
              <a:rPr lang="en-US" sz="2200" b="0" i="0" dirty="0">
                <a:effectLst/>
                <a:cs typeface="Times New Roman" panose="02020603050405020304" pitchFamily="18" charset="0"/>
              </a:rPr>
              <a:t> Preprint arXiv:2508.09689.</a:t>
            </a:r>
          </a:p>
          <a:p>
            <a:pPr marL="0" indent="-274320" algn="just">
              <a:buNone/>
            </a:pPr>
            <a:endParaRPr lang="en-US" sz="2200" b="0" i="0" dirty="0">
              <a:effectLst/>
              <a:cs typeface="Times New Roman" panose="02020603050405020304" pitchFamily="18" charset="0"/>
            </a:endParaRPr>
          </a:p>
          <a:p>
            <a:pPr marL="0" indent="-274320" algn="just">
              <a:buNone/>
            </a:pPr>
            <a:r>
              <a:rPr lang="en-US" sz="2200" b="0" i="0" dirty="0">
                <a:effectLst/>
                <a:cs typeface="Times New Roman" panose="02020603050405020304" pitchFamily="18" charset="0"/>
              </a:rPr>
              <a:t>Lo, E., &amp; Lo, D. C.-T. (2025). Exoplanet detection using machine learning models trained on synthetic light curves (Version 1). </a:t>
            </a:r>
            <a:r>
              <a:rPr lang="en-US" sz="2200" b="0" i="0" dirty="0" err="1">
                <a:effectLst/>
                <a:cs typeface="Times New Roman" panose="02020603050405020304" pitchFamily="18" charset="0"/>
              </a:rPr>
              <a:t>arXiv</a:t>
            </a:r>
            <a:r>
              <a:rPr lang="en-US" sz="2200" b="0" i="0" dirty="0">
                <a:effectLst/>
                <a:cs typeface="Times New Roman" panose="02020603050405020304" pitchFamily="18" charset="0"/>
              </a:rPr>
              <a:t>. </a:t>
            </a:r>
            <a:r>
              <a:rPr lang="en-US" sz="2200" b="0" i="0" dirty="0">
                <a:effectLst/>
                <a:cs typeface="Times New Roman" panose="02020603050405020304" pitchFamily="18" charset="0"/>
                <a:hlinkClick r:id="rId2"/>
              </a:rPr>
              <a:t>https://arxiv.org/abs/2507.19520</a:t>
            </a:r>
            <a:endParaRPr lang="en-US" sz="2200" b="0" i="0" dirty="0">
              <a:effectLst/>
              <a:cs typeface="Times New Roman" panose="02020603050405020304" pitchFamily="18" charset="0"/>
            </a:endParaRPr>
          </a:p>
          <a:p>
            <a:pPr marL="0" indent="-274320" algn="just">
              <a:buNone/>
            </a:pPr>
            <a:endParaRPr lang="en-US" sz="2200" b="0" i="0" dirty="0">
              <a:effectLst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200" dirty="0"/>
              <a:t>Garvin, E. O., </a:t>
            </a:r>
            <a:r>
              <a:rPr lang="en-US" sz="2200" dirty="0" err="1"/>
              <a:t>Bonse</a:t>
            </a:r>
            <a:r>
              <a:rPr lang="en-US" sz="2200" dirty="0"/>
              <a:t>, M. J., </a:t>
            </a:r>
            <a:r>
              <a:rPr lang="en-US" sz="2200" dirty="0" err="1"/>
              <a:t>Hayoz</a:t>
            </a:r>
            <a:r>
              <a:rPr lang="en-US" sz="2200" dirty="0"/>
              <a:t>, J., </a:t>
            </a:r>
            <a:r>
              <a:rPr lang="en-US" sz="2200" dirty="0" err="1"/>
              <a:t>Cugno</a:t>
            </a:r>
            <a:r>
              <a:rPr lang="en-US" sz="2200" dirty="0"/>
              <a:t>, G., Spiller, J., </a:t>
            </a:r>
            <a:r>
              <a:rPr lang="en-US" sz="2200" dirty="0" err="1"/>
              <a:t>Patapis</a:t>
            </a:r>
            <a:r>
              <a:rPr lang="en-US" sz="2200" dirty="0"/>
              <a:t>, P. A., Petit </a:t>
            </a:r>
            <a:r>
              <a:rPr lang="en-US" sz="2200" dirty="0" err="1"/>
              <a:t>dit</a:t>
            </a:r>
            <a:r>
              <a:rPr lang="en-US" sz="2200" dirty="0"/>
              <a:t> de la Roche, D., Nath-Ranga, R., </a:t>
            </a:r>
            <a:r>
              <a:rPr lang="en-US" sz="2200" dirty="0" err="1"/>
              <a:t>Absil</a:t>
            </a:r>
            <a:r>
              <a:rPr lang="en-US" sz="2200" dirty="0"/>
              <a:t>, O., </a:t>
            </a:r>
            <a:r>
              <a:rPr lang="en-US" sz="2200" dirty="0" err="1"/>
              <a:t>Meinshausen</a:t>
            </a:r>
            <a:r>
              <a:rPr lang="en-US" sz="2200" dirty="0"/>
              <a:t>, N. F., &amp; </a:t>
            </a:r>
            <a:r>
              <a:rPr lang="en-US" sz="2200" dirty="0" err="1"/>
              <a:t>Quanz</a:t>
            </a:r>
            <a:r>
              <a:rPr lang="en-US" sz="2200" dirty="0"/>
              <a:t>, S. P. (2024). Machine learning for exoplanet detection in high-contrast spectroscopy: Revealing exoplanets by leveraging hidden molecular signatures in cross-correlated spectra with convolutional neural networks.</a:t>
            </a:r>
          </a:p>
          <a:p>
            <a:pPr marL="0" indent="0" algn="just">
              <a:buNone/>
            </a:pPr>
            <a:endParaRPr lang="en-US" sz="2200" dirty="0"/>
          </a:p>
          <a:p>
            <a:pPr marL="0" indent="0" algn="just">
              <a:buNone/>
            </a:pPr>
            <a:r>
              <a:rPr lang="en-US" sz="2200" dirty="0"/>
              <a:t>diagrams.net. (n.d.). </a:t>
            </a:r>
            <a:r>
              <a:rPr lang="en-US" sz="2200" i="1" dirty="0"/>
              <a:t>draw.io</a:t>
            </a:r>
            <a:r>
              <a:rPr lang="en-US" sz="2200" dirty="0"/>
              <a:t> [Software]. </a:t>
            </a:r>
            <a:r>
              <a:rPr lang="en-US" sz="2200" dirty="0">
                <a:hlinkClick r:id="rId3"/>
              </a:rPr>
              <a:t>https://www.draw.io/</a:t>
            </a:r>
            <a:endParaRPr lang="en-US" sz="2200" dirty="0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524000" y="2819400"/>
            <a:ext cx="6172200" cy="990600"/>
          </a:xfrm>
        </p:spPr>
        <p:txBody>
          <a:bodyPr>
            <a:noAutofit/>
          </a:bodyPr>
          <a:lstStyle/>
          <a:p>
            <a:pPr algn="ctr"/>
            <a:r>
              <a:rPr lang="en-US" sz="3600" b="0" dirty="0">
                <a:latin typeface="Forte" pitchFamily="66" charset="0"/>
              </a:rPr>
              <a:t>Thank</a:t>
            </a:r>
            <a:r>
              <a:rPr lang="en-US" sz="3600" b="0" dirty="0">
                <a:latin typeface="Rage Italic" pitchFamily="66" charset="0"/>
              </a:rPr>
              <a:t> </a:t>
            </a:r>
            <a:r>
              <a:rPr lang="en-US" sz="3600" b="0" dirty="0">
                <a:latin typeface="Forte" pitchFamily="66" charset="0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6311</TotalTime>
  <Words>1952</Words>
  <Application>Microsoft Office PowerPoint</Application>
  <PresentationFormat>On-screen Show (4:3)</PresentationFormat>
  <Paragraphs>274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Arial</vt:lpstr>
      <vt:lpstr>Arial Narrow</vt:lpstr>
      <vt:lpstr>Calibri</vt:lpstr>
      <vt:lpstr>Calibri Light</vt:lpstr>
      <vt:lpstr>fkGroteskNeue</vt:lpstr>
      <vt:lpstr>Forte</vt:lpstr>
      <vt:lpstr>Rage Italic</vt:lpstr>
      <vt:lpstr>Rockwell</vt:lpstr>
      <vt:lpstr>Times New Roman</vt:lpstr>
      <vt:lpstr>Wingdings</vt:lpstr>
      <vt:lpstr>Office Theme</vt:lpstr>
      <vt:lpstr> Prepared for:   Thesis Proposal Defense Committee  Department of  Computer Science and Engineering </vt:lpstr>
      <vt:lpstr>Contents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Kaniz Fatema</cp:lastModifiedBy>
  <cp:revision>248</cp:revision>
  <dcterms:created xsi:type="dcterms:W3CDTF">2021-05-07T10:10:49Z</dcterms:created>
  <dcterms:modified xsi:type="dcterms:W3CDTF">2025-11-24T15:54:27Z</dcterms:modified>
</cp:coreProperties>
</file>